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Override1.xml" ContentType="application/vnd.openxmlformats-officedocument.themeOverr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147483521" r:id="rId2"/>
    <p:sldId id="2147483522" r:id="rId3"/>
    <p:sldId id="2147483523" r:id="rId4"/>
    <p:sldId id="214748352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210A4-A727-4FB2-805C-CD127A098E91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7F10A-B028-437B-BBD6-A01B3E1F6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2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Next </a:t>
            </a:r>
            <a:r>
              <a:rPr lang="fr-CH" dirty="0" err="1"/>
              <a:t>step</a:t>
            </a:r>
            <a:r>
              <a:rPr lang="fr-CH" dirty="0"/>
              <a:t> : </a:t>
            </a:r>
          </a:p>
          <a:p>
            <a:pPr marL="171450" indent="-171450">
              <a:buFontTx/>
              <a:buChar char="-"/>
            </a:pPr>
            <a:r>
              <a:rPr lang="fr-CH" dirty="0"/>
              <a:t>Check </a:t>
            </a:r>
            <a:r>
              <a:rPr lang="fr-CH" dirty="0" err="1"/>
              <a:t>with</a:t>
            </a:r>
            <a:r>
              <a:rPr lang="fr-CH" dirty="0"/>
              <a:t> Guiora /Sybille </a:t>
            </a:r>
            <a:r>
              <a:rPr lang="fr-CH" dirty="0" err="1"/>
              <a:t>that</a:t>
            </a:r>
            <a:r>
              <a:rPr lang="fr-CH" dirty="0"/>
              <a:t> </a:t>
            </a:r>
            <a:r>
              <a:rPr lang="fr-CH" dirty="0" err="1"/>
              <a:t>granting</a:t>
            </a:r>
            <a:r>
              <a:rPr lang="fr-CH" dirty="0"/>
              <a:t> SEM </a:t>
            </a:r>
            <a:r>
              <a:rPr lang="fr-CH" dirty="0" err="1"/>
              <a:t>rights</a:t>
            </a:r>
            <a:r>
              <a:rPr lang="fr-CH" dirty="0"/>
              <a:t> </a:t>
            </a:r>
            <a:r>
              <a:rPr lang="fr-CH" dirty="0" err="1"/>
              <a:t>is</a:t>
            </a:r>
            <a:r>
              <a:rPr lang="fr-CH" dirty="0"/>
              <a:t> acceptable</a:t>
            </a:r>
          </a:p>
          <a:p>
            <a:pPr marL="171450" indent="-171450">
              <a:buFontTx/>
              <a:buChar char="-"/>
            </a:pPr>
            <a:r>
              <a:rPr lang="fr-CH" dirty="0"/>
              <a:t>Check </a:t>
            </a:r>
            <a:r>
              <a:rPr lang="fr-CH" dirty="0" err="1"/>
              <a:t>with</a:t>
            </a:r>
            <a:r>
              <a:rPr lang="fr-CH" dirty="0"/>
              <a:t> Sebastian if </a:t>
            </a:r>
            <a:r>
              <a:rPr lang="fr-CH" dirty="0" err="1"/>
              <a:t>any</a:t>
            </a:r>
            <a:r>
              <a:rPr lang="fr-CH" dirty="0"/>
              <a:t> </a:t>
            </a:r>
            <a:r>
              <a:rPr lang="fr-CH" dirty="0" err="1"/>
              <a:t>other</a:t>
            </a:r>
            <a:r>
              <a:rPr lang="fr-CH" dirty="0"/>
              <a:t> </a:t>
            </a:r>
            <a:r>
              <a:rPr lang="fr-CH" dirty="0" err="1"/>
              <a:t>special</a:t>
            </a:r>
            <a:r>
              <a:rPr lang="fr-CH" dirty="0"/>
              <a:t> case to </a:t>
            </a:r>
            <a:r>
              <a:rPr lang="fr-CH" dirty="0" err="1"/>
              <a:t>consider</a:t>
            </a:r>
            <a:endParaRPr lang="fr-CH" dirty="0"/>
          </a:p>
          <a:p>
            <a:pPr marL="171450" indent="-171450">
              <a:buFontTx/>
              <a:buChar char="-"/>
            </a:pPr>
            <a:r>
              <a:rPr lang="fr-CH" dirty="0"/>
              <a:t>Meeting </a:t>
            </a:r>
            <a:r>
              <a:rPr lang="fr-CH" dirty="0" err="1"/>
              <a:t>with</a:t>
            </a:r>
            <a:r>
              <a:rPr lang="fr-CH" dirty="0"/>
              <a:t> Yan, Daniele, Deloitte teams for </a:t>
            </a:r>
            <a:r>
              <a:rPr lang="fr-CH" dirty="0" err="1"/>
              <a:t>simplifying</a:t>
            </a:r>
            <a:r>
              <a:rPr lang="fr-CH" dirty="0"/>
              <a:t> the UAM and not </a:t>
            </a:r>
            <a:r>
              <a:rPr lang="fr-CH" dirty="0" err="1"/>
              <a:t>from</a:t>
            </a:r>
            <a:r>
              <a:rPr lang="fr-CH" dirty="0"/>
              <a:t> MyAccess (</a:t>
            </a:r>
            <a:r>
              <a:rPr lang="fr-CH" dirty="0" err="1"/>
              <a:t>too</a:t>
            </a:r>
            <a:r>
              <a:rPr lang="fr-CH" dirty="0"/>
              <a:t> </a:t>
            </a:r>
            <a:r>
              <a:rPr lang="fr-CH" dirty="0" err="1"/>
              <a:t>simplistic</a:t>
            </a:r>
            <a:r>
              <a:rPr lang="fr-CH" dirty="0"/>
              <a:t> info)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867C91-2764-487D-860C-0A48D064310D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142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emf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with Image" type="title" preserve="1">
  <p:cSld name="Title Slide with Image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>
            <p:custDataLst>
              <p:tags r:id="rId1"/>
            </p:custDataLst>
          </p:nvPr>
        </p:nvSpPr>
        <p:spPr bwMode="ltGray">
          <a:xfrm>
            <a:off x="526894" y="386520"/>
            <a:ext cx="7619416" cy="4548646"/>
          </a:xfrm>
          <a:prstGeom prst="rect">
            <a:avLst/>
          </a:prstGeom>
          <a:solidFill>
            <a:srgbClr val="00416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285802" y="1742970"/>
            <a:ext cx="6753600" cy="17532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3598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286927" y="3551238"/>
            <a:ext cx="6752475" cy="776779"/>
          </a:xfrm>
        </p:spPr>
        <p:txBody>
          <a:bodyPr anchor="b"/>
          <a:lstStyle>
            <a:lvl1pPr marL="0" indent="0" algn="l">
              <a:lnSpc>
                <a:spcPct val="85000"/>
              </a:lnSpc>
              <a:spcAft>
                <a:spcPts val="0"/>
              </a:spcAft>
              <a:buNone/>
              <a:defRPr sz="1599" b="1" cap="all" baseline="0">
                <a:solidFill>
                  <a:schemeClr val="accent2"/>
                </a:solidFill>
                <a:latin typeface="Century Gothic" panose="020B0502020202020204" pitchFamily="34" charset="0"/>
              </a:defRPr>
            </a:lvl1pPr>
            <a:lvl2pPr marL="456971" indent="0" algn="ctr">
              <a:buNone/>
              <a:defRPr sz="1999"/>
            </a:lvl2pPr>
            <a:lvl3pPr marL="913943" indent="0" algn="ctr">
              <a:buNone/>
              <a:defRPr sz="1799"/>
            </a:lvl3pPr>
            <a:lvl4pPr marL="1370914" indent="0" algn="ctr">
              <a:buNone/>
              <a:defRPr sz="1599"/>
            </a:lvl4pPr>
            <a:lvl5pPr marL="1827886" indent="0" algn="ctr">
              <a:buNone/>
              <a:defRPr sz="1599"/>
            </a:lvl5pPr>
            <a:lvl6pPr marL="2284857" indent="0" algn="ctr">
              <a:buNone/>
              <a:defRPr sz="1599"/>
            </a:lvl6pPr>
            <a:lvl7pPr marL="2741828" indent="0" algn="ctr">
              <a:buNone/>
              <a:defRPr sz="1599"/>
            </a:lvl7pPr>
            <a:lvl8pPr marL="3198800" indent="0" algn="ctr">
              <a:buNone/>
              <a:defRPr sz="1599"/>
            </a:lvl8pPr>
            <a:lvl9pPr marL="3655771" indent="0" algn="ctr">
              <a:buNone/>
              <a:defRPr sz="1599"/>
            </a:lvl9pPr>
          </a:lstStyle>
          <a:p>
            <a:r>
              <a:rPr lang="fr-FR" noProof="0"/>
              <a:t>Modifiez le style des sous-titres du masque</a:t>
            </a:r>
            <a:endParaRPr lang="en-US" noProof="0"/>
          </a:p>
        </p:txBody>
      </p:sp>
      <p:cxnSp>
        <p:nvCxnSpPr>
          <p:cNvPr id="11" name="Straight Connector 10"/>
          <p:cNvCxnSpPr/>
          <p:nvPr userDrawn="1"/>
        </p:nvCxnSpPr>
        <p:spPr bwMode="white">
          <a:xfrm>
            <a:off x="1312813" y="4410689"/>
            <a:ext cx="30132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 bwMode="white">
          <a:xfrm>
            <a:off x="1287112" y="4476930"/>
            <a:ext cx="6752289" cy="365125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1599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9" name="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790" y="6372204"/>
            <a:ext cx="3360000" cy="15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Profit on Inventory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39499B32-8BC1-47DA-B4D9-3113DDE8FF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2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120BC-99BC-4FCD-AEE6-27F9D145F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35714-98BE-49F7-AFDA-06216B77DE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Profit on Inventory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C862B-4DE0-4215-9507-CE23BE937A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499B32-8BC1-47DA-B4D9-3113DDE8FF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4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Key Message" preserve="1" userDrawn="1">
  <p:cSld name="Content &amp;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522251" y="1533833"/>
            <a:ext cx="2927350" cy="14773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8996" b="0" noProof="0">
                <a:solidFill>
                  <a:schemeClr val="accent2"/>
                </a:solidFill>
                <a:latin typeface="Sabon LT Std" panose="02020602060506020403" pitchFamily="18" charset="0"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3" y="1808163"/>
            <a:ext cx="7158564" cy="4357687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Profit on Inventory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39499B32-8BC1-47DA-B4D9-3113DDE8FF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8640235" y="2183607"/>
            <a:ext cx="2927350" cy="3982244"/>
          </a:xfrm>
        </p:spPr>
        <p:txBody>
          <a:bodyPr/>
          <a:lstStyle>
            <a:lvl1pPr marL="0" indent="0">
              <a:buNone/>
              <a:defRPr sz="1599" i="0">
                <a:solidFill>
                  <a:schemeClr val="accent2"/>
                </a:solidFill>
                <a:latin typeface="Sabon MT" panose="02030503060306030303" pitchFamily="18" charset="0"/>
              </a:defRPr>
            </a:lvl1pPr>
          </a:lstStyle>
          <a:p>
            <a:pPr lvl="0"/>
            <a:r>
              <a:rPr lang="en-US" noProof="0"/>
              <a:t>Key Message</a:t>
            </a:r>
          </a:p>
        </p:txBody>
      </p:sp>
    </p:spTree>
    <p:extLst>
      <p:ext uri="{BB962C8B-B14F-4D97-AF65-F5344CB8AC3E}">
        <p14:creationId xmlns:p14="http://schemas.microsoft.com/office/powerpoint/2010/main" val="572689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2">
          <p15:clr>
            <a:srgbClr val="FBAE40"/>
          </p15:clr>
        </p15:guide>
        <p15:guide id="2" pos="374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3" y="1808625"/>
            <a:ext cx="5187948" cy="4357227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5985" y="1808623"/>
            <a:ext cx="5181600" cy="4351338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Profit on Inventory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39499B32-8BC1-47DA-B4D9-3113DDE8FF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69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Profit on Inventory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39499B32-8BC1-47DA-B4D9-3113DDE8FF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77" y="6556096"/>
            <a:ext cx="2265600" cy="10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82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Profit on Inventory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39499B32-8BC1-47DA-B4D9-3113DDE8FF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58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H_Title and Content" preserve="1" userDrawn="1">
  <p:cSld name="SH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4" y="232560"/>
            <a:ext cx="10805581" cy="679903"/>
          </a:xfrm>
        </p:spPr>
        <p:txBody>
          <a:bodyPr/>
          <a:lstStyle>
            <a:lvl1pPr>
              <a:defRPr sz="3598">
                <a:latin typeface="Century Gothic" panose="020B0502020202020204" pitchFamily="34" charset="0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 noProof="0"/>
              <a:t>Modifiez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Profit on Inventory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39499B32-8BC1-47DA-B4D9-3113DDE8FF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68350" y="808036"/>
            <a:ext cx="10799233" cy="59531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399" cap="all" baseline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noProof="0"/>
              <a:t>Modifiez les styles du texte du masque</a:t>
            </a:r>
          </a:p>
        </p:txBody>
      </p:sp>
      <p:pic>
        <p:nvPicPr>
          <p:cNvPr id="8" name="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77" y="6556096"/>
            <a:ext cx="2265600" cy="10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8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H_Title Only" preserve="1" userDrawn="1">
  <p:cSld name="SH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Profit on Inventory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39499B32-8BC1-47DA-B4D9-3113DDE8FF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62004" y="232560"/>
            <a:ext cx="10805581" cy="679903"/>
          </a:xfrm>
        </p:spPr>
        <p:txBody>
          <a:bodyPr/>
          <a:lstStyle>
            <a:lvl1pPr>
              <a:defRPr sz="3598">
                <a:latin typeface="Century Gothic" panose="020B0502020202020204" pitchFamily="34" charset="0"/>
              </a:defRPr>
            </a:lvl1pPr>
          </a:lstStyle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68350" y="808036"/>
            <a:ext cx="10799233" cy="59531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399" cap="all" baseline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fr-FR" noProof="0"/>
              <a:t>Modifiez les styles du texte du masque</a:t>
            </a:r>
          </a:p>
        </p:txBody>
      </p:sp>
      <p:pic>
        <p:nvPicPr>
          <p:cNvPr id="9" name="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77" y="6556096"/>
            <a:ext cx="2265600" cy="10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71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 - Logo" preserve="1" userDrawn="1">
  <p:cSld name="Closing -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37" y="3267665"/>
            <a:ext cx="5860416" cy="27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08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ver_02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FCC4D4B-B0B2-499C-A201-403BCACE28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7017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17" imgH="318" progId="TCLayout.ActiveDocument.1">
                  <p:embed/>
                </p:oleObj>
              </mc:Choice>
              <mc:Fallback>
                <p:oleObj name="think-cell Slide" r:id="rId3" imgW="317" imgH="31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FCC4D4B-B0B2-499C-A201-403BCACE28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Grafik 3">
            <a:extLst>
              <a:ext uri="{FF2B5EF4-FFF2-40B4-BE49-F238E27FC236}">
                <a16:creationId xmlns:a16="http://schemas.microsoft.com/office/drawing/2014/main" id="{4FD94E02-24E7-47E1-8D88-9B398C03635B}"/>
              </a:ext>
            </a:extLst>
          </p:cNvPr>
          <p:cNvPicPr>
            <a:picLocks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Rectángulo 32">
            <a:extLst>
              <a:ext uri="{FF2B5EF4-FFF2-40B4-BE49-F238E27FC236}">
                <a16:creationId xmlns:a16="http://schemas.microsoft.com/office/drawing/2014/main" id="{051C90DC-56EF-4418-9956-671C632DB98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6000">
                <a:srgbClr val="00091E"/>
              </a:gs>
              <a:gs pos="37000">
                <a:srgbClr val="00091E">
                  <a:alpha val="35000"/>
                </a:srgbClr>
              </a:gs>
              <a:gs pos="67000">
                <a:schemeClr val="tx1">
                  <a:lumMod val="85000"/>
                  <a:lumOff val="15000"/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5" name="Rectángulo 32">
            <a:extLst>
              <a:ext uri="{FF2B5EF4-FFF2-40B4-BE49-F238E27FC236}">
                <a16:creationId xmlns:a16="http://schemas.microsoft.com/office/drawing/2014/main" id="{E2BE202B-4971-4534-81E7-DC41BD6D3C8D}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7000">
                <a:schemeClr val="tx1">
                  <a:lumMod val="85000"/>
                  <a:lumOff val="15000"/>
                  <a:alpha val="0"/>
                </a:schemeClr>
              </a:gs>
              <a:gs pos="51000">
                <a:schemeClr val="tx1">
                  <a:lumMod val="85000"/>
                  <a:lumOff val="15000"/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grpSp>
        <p:nvGrpSpPr>
          <p:cNvPr id="71" name="SP Agenda Section" hidden="1">
            <a:extLst>
              <a:ext uri="{FF2B5EF4-FFF2-40B4-BE49-F238E27FC236}">
                <a16:creationId xmlns:a16="http://schemas.microsoft.com/office/drawing/2014/main" id="{91D61CFA-1A29-4B89-8F49-1E216E25DD2B}"/>
              </a:ext>
            </a:extLst>
          </p:cNvPr>
          <p:cNvGrpSpPr>
            <a:grpSpLocks/>
          </p:cNvGrpSpPr>
          <p:nvPr userDrawn="1"/>
        </p:nvGrpSpPr>
        <p:grpSpPr>
          <a:xfrm>
            <a:off x="1284761" y="4096092"/>
            <a:ext cx="10080000" cy="369332"/>
            <a:chOff x="1797664" y="2085631"/>
            <a:chExt cx="5940745" cy="369332"/>
          </a:xfrm>
        </p:grpSpPr>
        <p:sp>
          <p:nvSpPr>
            <p:cNvPr id="72" name="Textbox" hidden="1">
              <a:extLst>
                <a:ext uri="{FF2B5EF4-FFF2-40B4-BE49-F238E27FC236}">
                  <a16:creationId xmlns:a16="http://schemas.microsoft.com/office/drawing/2014/main" id="{8BF45C0E-D24F-4800-98B2-20E0A3AC8C3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140025" y="2085631"/>
              <a:ext cx="5598384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3600" b="1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73" name="Textbox" hidden="1">
              <a:extLst>
                <a:ext uri="{FF2B5EF4-FFF2-40B4-BE49-F238E27FC236}">
                  <a16:creationId xmlns:a16="http://schemas.microsoft.com/office/drawing/2014/main" id="{B36140C3-09D5-4D3F-906D-270C63E3402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74" name="Textbox" hidden="1">
              <a:extLst>
                <a:ext uri="{FF2B5EF4-FFF2-40B4-BE49-F238E27FC236}">
                  <a16:creationId xmlns:a16="http://schemas.microsoft.com/office/drawing/2014/main" id="{871FFF1F-6558-47A3-B57A-1327C25BF06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75" name="Textbox" hidden="1">
              <a:extLst>
                <a:ext uri="{FF2B5EF4-FFF2-40B4-BE49-F238E27FC236}">
                  <a16:creationId xmlns:a16="http://schemas.microsoft.com/office/drawing/2014/main" id="{98FFC8B2-AAEA-4B46-BACD-C8587958201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76" name="Textbox" hidden="1">
              <a:extLst>
                <a:ext uri="{FF2B5EF4-FFF2-40B4-BE49-F238E27FC236}">
                  <a16:creationId xmlns:a16="http://schemas.microsoft.com/office/drawing/2014/main" id="{0E8F7A35-E5F6-48B1-BC2B-4D8D2886AA7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77" name="Textbox" hidden="1">
              <a:extLst>
                <a:ext uri="{FF2B5EF4-FFF2-40B4-BE49-F238E27FC236}">
                  <a16:creationId xmlns:a16="http://schemas.microsoft.com/office/drawing/2014/main" id="{D42D33A2-C40A-44B6-BE0C-4D7653C496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5631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sp>
        <p:nvSpPr>
          <p:cNvPr id="31" name="SP Agenda Notice" hidden="1"/>
          <p:cNvSpPr>
            <a:spLocks noGrp="1"/>
          </p:cNvSpPr>
          <p:nvPr>
            <p:ph sz="quarter" idx="13" hasCustomPrompt="1"/>
          </p:nvPr>
        </p:nvSpPr>
        <p:spPr>
          <a:xfrm>
            <a:off x="12344400" y="48315"/>
            <a:ext cx="3103200" cy="0"/>
          </a:xfrm>
          <a:prstGeom prst="rect">
            <a:avLst/>
          </a:prstGeo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800" b="0" i="0" baseline="0">
                <a:solidFill>
                  <a:schemeClr val="tx1"/>
                </a:solidFill>
              </a:defRPr>
            </a:lvl1pPr>
            <a:lvl2pPr marL="172641" marR="0" indent="-171450" algn="l" defTabSz="6845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800" baseline="0">
                <a:solidFill>
                  <a:schemeClr val="tx1"/>
                </a:solidFill>
              </a:defRPr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noProof="0"/>
              <a:t>This is the SlideProof Agenda Layout</a:t>
            </a:r>
          </a:p>
          <a:p>
            <a:pPr lvl="0"/>
            <a:r>
              <a:rPr lang="en-US" noProof="0"/>
              <a:t>http://www.veodin.com/slideproof/manual/agenda/</a:t>
            </a:r>
          </a:p>
          <a:p>
            <a:pPr lvl="0"/>
            <a:r>
              <a:rPr lang="en-US" noProof="0"/>
              <a:t>Use the Selection Pane (Alt+F10) to make the hidden shapes of the Agenda visible. Make sure you group them again after editing and rename them with SlideProof &gt; Agenda &gt; Rename Agenda Groups</a:t>
            </a:r>
          </a:p>
          <a:p>
            <a:pPr lvl="0"/>
            <a:r>
              <a:rPr lang="en-US" noProof="0"/>
              <a:t>Expected group names are:</a:t>
            </a:r>
          </a:p>
          <a:p>
            <a:pPr lvl="1"/>
            <a:endParaRPr lang="en-US" noProof="0"/>
          </a:p>
          <a:p>
            <a:pPr lvl="1"/>
            <a:r>
              <a:rPr lang="en-US" noProof="0"/>
              <a:t>SP Agenda Section - Mandatory</a:t>
            </a:r>
          </a:p>
          <a:p>
            <a:pPr lvl="1"/>
            <a:r>
              <a:rPr lang="en-US" noProof="0"/>
              <a:t>SP Agenda Section Highlight - Highlight the current section</a:t>
            </a:r>
          </a:p>
          <a:p>
            <a:pPr lvl="1"/>
            <a:r>
              <a:rPr lang="en-US" noProof="0"/>
              <a:t>SP Agenda Subsection - Mandatory if showing subsections</a:t>
            </a:r>
          </a:p>
          <a:p>
            <a:pPr lvl="1"/>
            <a:r>
              <a:rPr lang="en-US" noProof="0"/>
              <a:t>SP Agenda Subsection Highlight - Highlight the current subsection</a:t>
            </a:r>
          </a:p>
          <a:p>
            <a:pPr lvl="0"/>
            <a:r>
              <a:rPr lang="en-US" noProof="0"/>
              <a:t>Any shapes or images inside the groups will appear on the agenda pages. This notice (SP Agenda Notice) will not appear on the agenda pages.</a:t>
            </a:r>
          </a:p>
          <a:p>
            <a:pPr lvl="0"/>
            <a:r>
              <a:rPr lang="en-US" noProof="0"/>
              <a:t>Valid text placeholders are:</a:t>
            </a:r>
          </a:p>
          <a:p>
            <a:pPr lvl="1"/>
            <a:endParaRPr lang="en-US" noProof="0"/>
          </a:p>
          <a:p>
            <a:pPr lvl="1"/>
            <a:r>
              <a:rPr lang="en-US" noProof="0"/>
              <a:t>Section number:</a:t>
            </a:r>
          </a:p>
          <a:p>
            <a:pPr lvl="1"/>
            <a:r>
              <a:rPr lang="en-US" noProof="0"/>
              <a:t>&lt;N&gt; for Arabic number 1, 2, 3</a:t>
            </a:r>
          </a:p>
          <a:p>
            <a:pPr lvl="1"/>
            <a:r>
              <a:rPr lang="en-US" noProof="0"/>
              <a:t>&lt;R&gt; for Roman numeral I, II, III</a:t>
            </a:r>
          </a:p>
          <a:p>
            <a:pPr lvl="1"/>
            <a:r>
              <a:rPr lang="en-US" noProof="0"/>
              <a:t>&lt;RL&gt; for lower-case Roman numeral </a:t>
            </a:r>
            <a:r>
              <a:rPr lang="en-US" noProof="0" err="1"/>
              <a:t>i</a:t>
            </a:r>
            <a:r>
              <a:rPr lang="en-US" noProof="0"/>
              <a:t>, ii, iii</a:t>
            </a:r>
          </a:p>
          <a:p>
            <a:pPr lvl="1"/>
            <a:r>
              <a:rPr lang="en-US" noProof="0"/>
              <a:t>&lt;A&gt; for alphabetic character A, B, C</a:t>
            </a:r>
          </a:p>
          <a:p>
            <a:pPr lvl="1"/>
            <a:r>
              <a:rPr lang="en-US" noProof="0"/>
              <a:t>&lt;AL&gt; for lower-case Alphabetic character</a:t>
            </a:r>
          </a:p>
          <a:p>
            <a:pPr lvl="1"/>
            <a:r>
              <a:rPr lang="en-US" noProof="0"/>
              <a:t>&lt;TEXT&gt;</a:t>
            </a:r>
          </a:p>
          <a:p>
            <a:pPr lvl="1"/>
            <a:r>
              <a:rPr lang="en-US" noProof="0"/>
              <a:t>&lt;RESPONSIBLE&gt;</a:t>
            </a:r>
          </a:p>
          <a:p>
            <a:pPr lvl="1"/>
            <a:r>
              <a:rPr lang="en-US" noProof="0"/>
              <a:t>&lt;TIMESLOT&gt;</a:t>
            </a:r>
          </a:p>
          <a:p>
            <a:pPr lvl="1"/>
            <a:r>
              <a:rPr lang="en-US" noProof="0"/>
              <a:t>&lt;DURATION&gt; for duration</a:t>
            </a:r>
          </a:p>
          <a:p>
            <a:pPr lvl="1"/>
            <a:r>
              <a:rPr lang="en-US" noProof="0"/>
              <a:t>&lt;P&gt; for page number</a:t>
            </a:r>
          </a:p>
          <a:p>
            <a:pPr lvl="0"/>
            <a:r>
              <a:rPr lang="en-US" noProof="0"/>
              <a:t>If you want the agenda to be vertically centered on each Agenda slide, rename this layout to:</a:t>
            </a:r>
          </a:p>
          <a:p>
            <a:pPr lvl="1"/>
            <a:endParaRPr lang="en-US" noProof="0"/>
          </a:p>
          <a:p>
            <a:pPr lvl="1"/>
            <a:r>
              <a:rPr lang="en-US" noProof="0"/>
              <a:t>SP Agenda Vertical</a:t>
            </a:r>
          </a:p>
        </p:txBody>
      </p:sp>
      <p:grpSp>
        <p:nvGrpSpPr>
          <p:cNvPr id="78" name="SP Agenda Subsection" hidden="1">
            <a:extLst>
              <a:ext uri="{FF2B5EF4-FFF2-40B4-BE49-F238E27FC236}">
                <a16:creationId xmlns:a16="http://schemas.microsoft.com/office/drawing/2014/main" id="{3CDEAECC-3C3D-40DC-8048-05157150AD6E}"/>
              </a:ext>
            </a:extLst>
          </p:cNvPr>
          <p:cNvGrpSpPr>
            <a:grpSpLocks/>
          </p:cNvGrpSpPr>
          <p:nvPr userDrawn="1"/>
        </p:nvGrpSpPr>
        <p:grpSpPr>
          <a:xfrm>
            <a:off x="1284761" y="4096092"/>
            <a:ext cx="10080000" cy="369332"/>
            <a:chOff x="1797664" y="2085631"/>
            <a:chExt cx="5940745" cy="369332"/>
          </a:xfrm>
        </p:grpSpPr>
        <p:sp>
          <p:nvSpPr>
            <p:cNvPr id="79" name="Textbox" hidden="1">
              <a:extLst>
                <a:ext uri="{FF2B5EF4-FFF2-40B4-BE49-F238E27FC236}">
                  <a16:creationId xmlns:a16="http://schemas.microsoft.com/office/drawing/2014/main" id="{584D4FFB-892A-49C8-973F-893B258E19B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140025" y="2085631"/>
              <a:ext cx="5598384" cy="369332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defTabSz="9334267">
                <a:tabLst>
                  <a:tab pos="9512062" algn="l"/>
                </a:tabLst>
              </a:pPr>
              <a:r>
                <a:rPr lang="en-US" sz="3600" b="1">
                  <a:solidFill>
                    <a:schemeClr val="tx1"/>
                  </a:solidFill>
                </a:rPr>
                <a:t>&lt;TEXT&gt;</a:t>
              </a:r>
            </a:p>
          </p:txBody>
        </p:sp>
        <p:sp>
          <p:nvSpPr>
            <p:cNvPr id="80" name="Textbox" hidden="1">
              <a:extLst>
                <a:ext uri="{FF2B5EF4-FFF2-40B4-BE49-F238E27FC236}">
                  <a16:creationId xmlns:a16="http://schemas.microsoft.com/office/drawing/2014/main" id="{BB144044-4B4E-495D-8D8D-9D01BCCA9A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797664" y="2085631"/>
              <a:ext cx="379556" cy="369332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3600" b="1">
                  <a:solidFill>
                    <a:schemeClr val="tx1"/>
                  </a:solidFill>
                </a:rPr>
                <a:t>&lt;N&gt;</a:t>
              </a:r>
            </a:p>
          </p:txBody>
        </p:sp>
        <p:sp>
          <p:nvSpPr>
            <p:cNvPr id="81" name="Textbox" hidden="1">
              <a:extLst>
                <a:ext uri="{FF2B5EF4-FFF2-40B4-BE49-F238E27FC236}">
                  <a16:creationId xmlns:a16="http://schemas.microsoft.com/office/drawing/2014/main" id="{72849E41-8C22-4F28-A058-02BC25DF49B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r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&lt;P&gt;</a:t>
              </a:r>
            </a:p>
          </p:txBody>
        </p:sp>
        <p:sp>
          <p:nvSpPr>
            <p:cNvPr id="82" name="Textbox" hidden="1">
              <a:extLst>
                <a:ext uri="{FF2B5EF4-FFF2-40B4-BE49-F238E27FC236}">
                  <a16:creationId xmlns:a16="http://schemas.microsoft.com/office/drawing/2014/main" id="{CA1BEB0B-B88B-4782-BF66-3BC90122CA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&lt;TIMESLOT&gt;</a:t>
              </a:r>
            </a:p>
          </p:txBody>
        </p:sp>
        <p:sp>
          <p:nvSpPr>
            <p:cNvPr id="83" name="Textbox" hidden="1">
              <a:extLst>
                <a:ext uri="{FF2B5EF4-FFF2-40B4-BE49-F238E27FC236}">
                  <a16:creationId xmlns:a16="http://schemas.microsoft.com/office/drawing/2014/main" id="{2488CE60-C0C7-4375-8E28-316DE55D3DE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&lt;RESPONSIBLE&gt;</a:t>
              </a:r>
            </a:p>
          </p:txBody>
        </p:sp>
        <p:sp>
          <p:nvSpPr>
            <p:cNvPr id="84" name="Textbox" hidden="1">
              <a:extLst>
                <a:ext uri="{FF2B5EF4-FFF2-40B4-BE49-F238E27FC236}">
                  <a16:creationId xmlns:a16="http://schemas.microsoft.com/office/drawing/2014/main" id="{FDCF7982-797D-46DB-BA8C-F96B93FBBFA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12263" y="2086339"/>
              <a:ext cx="0" cy="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pPr algn="l"/>
              <a:r>
                <a:rPr lang="en-US" sz="1000" b="1">
                  <a:solidFill>
                    <a:srgbClr val="000000">
                      <a:alpha val="0"/>
                    </a:srgbClr>
                  </a:solidFill>
                </a:rPr>
                <a:t>&lt;DURATION&gt;</a:t>
              </a:r>
            </a:p>
          </p:txBody>
        </p:sp>
      </p:grp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09391A82-B5F3-439E-9C14-B69763DE48BC}"/>
              </a:ext>
            </a:extLst>
          </p:cNvPr>
          <p:cNvSpPr/>
          <p:nvPr/>
        </p:nvSpPr>
        <p:spPr>
          <a:xfrm>
            <a:off x="4622800" y="1544319"/>
            <a:ext cx="4648200" cy="3769359"/>
          </a:xfrm>
          <a:custGeom>
            <a:avLst/>
            <a:gdLst>
              <a:gd name="connsiteX0" fmla="*/ 0 w 4648200"/>
              <a:gd name="connsiteY0" fmla="*/ 0 h 3769359"/>
              <a:gd name="connsiteX1" fmla="*/ 0 w 4648200"/>
              <a:gd name="connsiteY1" fmla="*/ 3769360 h 3769359"/>
              <a:gd name="connsiteX2" fmla="*/ 4648200 w 4648200"/>
              <a:gd name="connsiteY2" fmla="*/ 1884680 h 3769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48200" h="3769359">
                <a:moveTo>
                  <a:pt x="0" y="0"/>
                </a:moveTo>
                <a:lnTo>
                  <a:pt x="0" y="3769360"/>
                </a:lnTo>
                <a:lnTo>
                  <a:pt x="4648200" y="1884680"/>
                </a:lnTo>
                <a:close/>
              </a:path>
            </a:pathLst>
          </a:custGeom>
          <a:noFill/>
          <a:ln w="126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E3D00A6-CEC3-41A2-B3D6-699399A23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6332" y="6532376"/>
            <a:ext cx="304799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r">
              <a:defRPr lang="en-US" sz="900" b="0" i="0" smtClean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defTabSz="1087106"/>
            <a:fld id="{4F9AC08D-23A9-440E-BCB9-AA1E9877CC38}" type="slidenum">
              <a:rPr lang="es-AR" smtClean="0"/>
              <a:pPr defTabSz="1087106"/>
              <a:t>‹#›</a:t>
            </a:fld>
            <a:endParaRPr lang="es-AR"/>
          </a:p>
        </p:txBody>
      </p:sp>
      <p:pic>
        <p:nvPicPr>
          <p:cNvPr id="28" name="Picture 50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DDE2009-D73B-4B97-9DEA-8C8ADAD3930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  <p:sp>
        <p:nvSpPr>
          <p:cNvPr id="29" name="TextBox 51">
            <a:extLst>
              <a:ext uri="{FF2B5EF4-FFF2-40B4-BE49-F238E27FC236}">
                <a16:creationId xmlns:a16="http://schemas.microsoft.com/office/drawing/2014/main" id="{798E9D7F-8F23-404E-B6F6-8CECE2EB56FA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/>
                </a:solidFill>
              </a:rPr>
              <a:t>Copyright © 2021 Accenture. All rights reserved.</a:t>
            </a:r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067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16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nual Agenda (dark)" userDrawn="1">
  <p:cSld name="Manual Agenda (dark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53233" y="613654"/>
            <a:ext cx="10287906" cy="67990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AGENDA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403164" y="1642912"/>
            <a:ext cx="9237974" cy="4522941"/>
          </a:xfrm>
        </p:spPr>
        <p:txBody>
          <a:bodyPr/>
          <a:lstStyle>
            <a:lvl1pPr marL="0" indent="0">
              <a:lnSpc>
                <a:spcPts val="2800"/>
              </a:lnSpc>
              <a:spcAft>
                <a:spcPts val="2000"/>
              </a:spcAft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Our Group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68353" y="1642912"/>
            <a:ext cx="1151027" cy="4522941"/>
          </a:xfrm>
        </p:spPr>
        <p:txBody>
          <a:bodyPr/>
          <a:lstStyle>
            <a:lvl1pPr marL="0" indent="0" algn="r">
              <a:lnSpc>
                <a:spcPts val="2800"/>
              </a:lnSpc>
              <a:spcAft>
                <a:spcPts val="2000"/>
              </a:spcAft>
              <a:buNone/>
              <a:defRPr sz="32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00</a:t>
            </a:r>
          </a:p>
        </p:txBody>
      </p:sp>
      <p:pic>
        <p:nvPicPr>
          <p:cNvPr id="7" name="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black">
          <a:xfrm>
            <a:off x="4839452" y="6372204"/>
            <a:ext cx="2520000" cy="155282"/>
          </a:xfrm>
          <a:prstGeom prst="rect">
            <a:avLst/>
          </a:prstGeom>
        </p:spPr>
      </p:pic>
      <p:sp>
        <p:nvSpPr>
          <p:cNvPr id="6" name="Classification" hidden="1"/>
          <p:cNvSpPr txBox="1"/>
          <p:nvPr userDrawn="1">
            <p:custDataLst>
              <p:tags r:id="rId3"/>
            </p:custDataLst>
          </p:nvPr>
        </p:nvSpPr>
        <p:spPr>
          <a:xfrm>
            <a:off x="9735186" y="79200"/>
            <a:ext cx="1832400" cy="1836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endParaRPr lang="en-GB" sz="1200" b="1" cap="all" baseline="0">
              <a:solidFill>
                <a:srgbClr val="FFFFFF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tatus" hidden="1"/>
          <p:cNvSpPr txBox="1"/>
          <p:nvPr userDrawn="1">
            <p:custDataLst>
              <p:tags r:id="rId4"/>
            </p:custDataLst>
          </p:nvPr>
        </p:nvSpPr>
        <p:spPr>
          <a:xfrm>
            <a:off x="9000786" y="79200"/>
            <a:ext cx="734400" cy="1836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en-GB" sz="1200" b="1" cap="all" baseline="0">
                <a:solidFill>
                  <a:srgbClr val="FFFFFF"/>
                </a:solidFill>
                <a:latin typeface="Century Gothic" panose="020B0502020202020204" pitchFamily="34" charset="0"/>
              </a:rPr>
              <a:t>&lt;Status&gt;</a:t>
            </a:r>
          </a:p>
        </p:txBody>
      </p:sp>
    </p:spTree>
    <p:extLst>
      <p:ext uri="{BB962C8B-B14F-4D97-AF65-F5344CB8AC3E}">
        <p14:creationId xmlns:p14="http://schemas.microsoft.com/office/powerpoint/2010/main" val="1692698955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A9059EE-5F5F-4EEC-A019-2283746EC34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468524560"/>
              </p:ext>
            </p:extLst>
          </p:nvPr>
        </p:nvGraphicFramePr>
        <p:xfrm>
          <a:off x="1587" y="1588"/>
          <a:ext cx="158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5" imgH="416" progId="TCLayout.ActiveDocument.1">
                  <p:embed/>
                </p:oleObj>
              </mc:Choice>
              <mc:Fallback>
                <p:oleObj name="think-cell Slide" r:id="rId16" imgW="415" imgH="41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A9059EE-5F5F-4EEC-A019-2283746EC3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7" y="1588"/>
                        <a:ext cx="158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4" y="446768"/>
            <a:ext cx="10805581" cy="67990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fr-FR" noProof="0"/>
              <a:t>Modifiez le style du titre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1808163"/>
            <a:ext cx="10799233" cy="43576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4" y="6500288"/>
            <a:ext cx="4114800" cy="20804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199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Profit on Inventory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25090" y="6500286"/>
            <a:ext cx="2743200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599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fld id="{39499B32-8BC1-47DA-B4D9-3113DDE8FF5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768351" y="353818"/>
            <a:ext cx="1079923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768351" y="1151161"/>
            <a:ext cx="10799233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Logo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977" y="6556096"/>
            <a:ext cx="2265600" cy="10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3943" rtl="0" eaLnBrk="1" latinLnBrk="0" hangingPunct="1">
        <a:lnSpc>
          <a:spcPct val="90000"/>
        </a:lnSpc>
        <a:spcBef>
          <a:spcPts val="999"/>
        </a:spcBef>
        <a:buNone/>
        <a:defRPr sz="3198" b="0" i="0" u="none" kern="1200" cap="all" baseline="0">
          <a:solidFill>
            <a:schemeClr val="accent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69865" indent="-269865" algn="l" defTabSz="91394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Symbol" panose="05050102010706020507" pitchFamily="18" charset="2"/>
        <a:buChar char=""/>
        <a:defRPr sz="1999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539730" indent="-269865" algn="l" defTabSz="91394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Symbol" panose="05050102010706020507" pitchFamily="18" charset="2"/>
        <a:buChar char=""/>
        <a:defRPr sz="1999" b="0" i="0" u="none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719640" indent="-179910" algn="l" defTabSz="91394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§"/>
        <a:defRPr sz="1599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899550" indent="-179910" algn="l" defTabSz="91394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§"/>
        <a:defRPr sz="1599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079460" indent="-179910" algn="l" defTabSz="91394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§"/>
        <a:defRPr sz="1199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253498" indent="-179298" algn="l" defTabSz="91394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§"/>
        <a:defRPr sz="1199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6pPr>
      <a:lvl7pPr marL="1434382" indent="-179298" algn="l" defTabSz="91394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§"/>
        <a:defRPr sz="1199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7pPr>
      <a:lvl8pPr marL="1608920" indent="-179298" algn="l" defTabSz="91394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§"/>
        <a:defRPr sz="1199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8pPr>
      <a:lvl9pPr marL="1789805" indent="-179298" algn="l" defTabSz="913943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2"/>
        </a:buClr>
        <a:buFont typeface="Wingdings" panose="05000000000000000000" pitchFamily="2" charset="2"/>
        <a:buChar char="§"/>
        <a:defRPr sz="1199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59C2-A569-FEEA-4832-CE15C72BC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USER ACCESS MANAGEMENT IN CAR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DC5A-5DAF-0C0A-8B89-03368C38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04" y="1379342"/>
            <a:ext cx="5075859" cy="4868273"/>
          </a:xfrm>
        </p:spPr>
        <p:txBody>
          <a:bodyPr/>
          <a:lstStyle/>
          <a:p>
            <a:pPr marL="0" indent="0">
              <a:buNone/>
            </a:pPr>
            <a:r>
              <a:rPr lang="fr-CH" sz="1600" u="sng" dirty="0"/>
              <a:t>CURRENT PROCESS:</a:t>
            </a:r>
          </a:p>
          <a:p>
            <a:pPr>
              <a:buFontTx/>
              <a:buChar char="-"/>
            </a:pPr>
            <a:r>
              <a:rPr lang="fr-CH" sz="1600" b="1" dirty="0"/>
              <a:t>SEM </a:t>
            </a:r>
            <a:r>
              <a:rPr lang="fr-CH" sz="1600" b="1" dirty="0" err="1"/>
              <a:t>Users</a:t>
            </a:r>
            <a:r>
              <a:rPr lang="fr-CH" sz="1600" b="1" dirty="0"/>
              <a:t> : </a:t>
            </a:r>
          </a:p>
          <a:p>
            <a:pPr lvl="1">
              <a:buFontTx/>
              <a:buChar char="-"/>
            </a:pPr>
            <a:r>
              <a:rPr lang="fr-CH" sz="1600" dirty="0"/>
              <a:t>All CAR access </a:t>
            </a:r>
            <a:r>
              <a:rPr lang="fr-CH" sz="1600" dirty="0" err="1"/>
              <a:t>rights</a:t>
            </a:r>
            <a:r>
              <a:rPr lang="fr-CH" sz="1600" dirty="0"/>
              <a:t> in SEM are </a:t>
            </a:r>
            <a:r>
              <a:rPr lang="fr-CH" sz="1600" dirty="0" err="1"/>
              <a:t>granted</a:t>
            </a:r>
            <a:r>
              <a:rPr lang="fr-CH" sz="1600" dirty="0"/>
              <a:t> at the </a:t>
            </a:r>
            <a:r>
              <a:rPr lang="fr-CH" sz="1600" dirty="0" err="1"/>
              <a:t>same</a:t>
            </a:r>
            <a:r>
              <a:rPr lang="fr-CH" sz="1600" dirty="0"/>
              <a:t> time as Reporting /Planning </a:t>
            </a:r>
            <a:r>
              <a:rPr lang="fr-CH" sz="1600" dirty="0" err="1"/>
              <a:t>accesses</a:t>
            </a:r>
            <a:r>
              <a:rPr lang="fr-CH" sz="1600" dirty="0"/>
              <a:t> and have </a:t>
            </a:r>
            <a:r>
              <a:rPr lang="fr-CH" sz="1600" dirty="0" err="1"/>
              <a:t>similar</a:t>
            </a:r>
            <a:r>
              <a:rPr lang="fr-CH" sz="1600" dirty="0"/>
              <a:t> </a:t>
            </a:r>
            <a:r>
              <a:rPr lang="fr-CH" sz="1600" dirty="0" err="1"/>
              <a:t>entity</a:t>
            </a:r>
            <a:r>
              <a:rPr lang="fr-CH" sz="1600" dirty="0"/>
              <a:t>/maisons scope</a:t>
            </a:r>
          </a:p>
          <a:p>
            <a:pPr>
              <a:buFontTx/>
              <a:buChar char="-"/>
            </a:pPr>
            <a:r>
              <a:rPr lang="fr-CH" sz="1600" b="1" dirty="0"/>
              <a:t>Workflow </a:t>
            </a:r>
            <a:r>
              <a:rPr lang="fr-CH" sz="1600" b="1" dirty="0" err="1"/>
              <a:t>Sharepoint</a:t>
            </a:r>
            <a:r>
              <a:rPr lang="fr-CH" sz="1600" b="1" dirty="0"/>
              <a:t> Group:</a:t>
            </a:r>
          </a:p>
          <a:p>
            <a:pPr lvl="1">
              <a:buFontTx/>
              <a:buChar char="-"/>
            </a:pPr>
            <a:r>
              <a:rPr lang="fr-CH" sz="1600" dirty="0"/>
              <a:t>Only the </a:t>
            </a:r>
            <a:r>
              <a:rPr lang="fr-CH" sz="1600" dirty="0" err="1"/>
              <a:t>requester</a:t>
            </a:r>
            <a:r>
              <a:rPr lang="fr-CH" sz="1600" dirty="0"/>
              <a:t> </a:t>
            </a:r>
            <a:r>
              <a:rPr lang="fr-CH" sz="1600" dirty="0" err="1"/>
              <a:t>list</a:t>
            </a:r>
            <a:r>
              <a:rPr lang="fr-CH" sz="1600" dirty="0"/>
              <a:t> </a:t>
            </a:r>
            <a:r>
              <a:rPr lang="fr-CH" sz="1600" dirty="0" err="1"/>
              <a:t>is</a:t>
            </a:r>
            <a:r>
              <a:rPr lang="fr-CH" sz="1600" dirty="0"/>
              <a:t> </a:t>
            </a:r>
            <a:r>
              <a:rPr lang="fr-CH" sz="1600" dirty="0" err="1"/>
              <a:t>maintained</a:t>
            </a:r>
            <a:r>
              <a:rPr lang="fr-CH" sz="1600" dirty="0"/>
              <a:t> in </a:t>
            </a:r>
            <a:r>
              <a:rPr lang="fr-CH" sz="1600" dirty="0" err="1"/>
              <a:t>Sharepoint</a:t>
            </a:r>
            <a:r>
              <a:rPr lang="fr-CH" sz="1600" dirty="0"/>
              <a:t> by a </a:t>
            </a:r>
            <a:r>
              <a:rPr lang="fr-CH" sz="1600" dirty="0" err="1"/>
              <a:t>functional</a:t>
            </a:r>
            <a:r>
              <a:rPr lang="fr-CH" sz="1600" dirty="0"/>
              <a:t> admin</a:t>
            </a:r>
          </a:p>
          <a:p>
            <a:pPr lvl="1">
              <a:buFontTx/>
              <a:buChar char="-"/>
            </a:pPr>
            <a:r>
              <a:rPr lang="fr-CH" sz="1600" dirty="0"/>
              <a:t>A </a:t>
            </a:r>
            <a:r>
              <a:rPr lang="fr-CH" sz="1600" dirty="0" err="1"/>
              <a:t>list</a:t>
            </a:r>
            <a:r>
              <a:rPr lang="fr-CH" sz="1600" dirty="0"/>
              <a:t> of </a:t>
            </a:r>
            <a:r>
              <a:rPr lang="fr-CH" sz="1600" dirty="0" err="1"/>
              <a:t>users</a:t>
            </a:r>
            <a:r>
              <a:rPr lang="fr-CH" sz="1600" dirty="0"/>
              <a:t> </a:t>
            </a:r>
            <a:r>
              <a:rPr lang="fr-CH" sz="1600" dirty="0" err="1"/>
              <a:t>is</a:t>
            </a:r>
            <a:r>
              <a:rPr lang="fr-CH" sz="1600" dirty="0"/>
              <a:t> </a:t>
            </a:r>
            <a:r>
              <a:rPr lang="fr-CH" sz="1600" dirty="0" err="1"/>
              <a:t>also</a:t>
            </a:r>
            <a:r>
              <a:rPr lang="fr-CH" sz="1600" dirty="0"/>
              <a:t> </a:t>
            </a:r>
            <a:r>
              <a:rPr lang="fr-CH" sz="1600" dirty="0" err="1"/>
              <a:t>maintained</a:t>
            </a:r>
            <a:r>
              <a:rPr lang="fr-CH" sz="1600" dirty="0"/>
              <a:t> in the </a:t>
            </a:r>
            <a:r>
              <a:rPr lang="fr-CH" sz="1600" dirty="0" err="1"/>
              <a:t>approval</a:t>
            </a:r>
            <a:r>
              <a:rPr lang="fr-CH" sz="1600" dirty="0"/>
              <a:t> </a:t>
            </a:r>
            <a:r>
              <a:rPr lang="fr-CH" sz="1600" dirty="0" err="1"/>
              <a:t>templates</a:t>
            </a:r>
            <a:r>
              <a:rPr lang="fr-CH" sz="1600" dirty="0"/>
              <a:t>/matrix but </a:t>
            </a:r>
            <a:r>
              <a:rPr lang="fr-CH" sz="1600" dirty="0" err="1"/>
              <a:t>is</a:t>
            </a:r>
            <a:r>
              <a:rPr lang="fr-CH" sz="1600" dirty="0"/>
              <a:t> not </a:t>
            </a:r>
            <a:r>
              <a:rPr lang="fr-CH" sz="1600" dirty="0" err="1"/>
              <a:t>necessary</a:t>
            </a:r>
            <a:r>
              <a:rPr lang="fr-CH" sz="1600" dirty="0"/>
              <a:t> to </a:t>
            </a:r>
            <a:r>
              <a:rPr lang="fr-CH" sz="1600" dirty="0" err="1"/>
              <a:t>get</a:t>
            </a:r>
            <a:r>
              <a:rPr lang="fr-CH" sz="1600" dirty="0"/>
              <a:t> </a:t>
            </a:r>
            <a:r>
              <a:rPr lang="fr-CH" sz="1600" dirty="0" err="1"/>
              <a:t>approval</a:t>
            </a:r>
            <a:r>
              <a:rPr lang="fr-CH" sz="1600" dirty="0"/>
              <a:t> access (</a:t>
            </a:r>
            <a:r>
              <a:rPr lang="fr-CH" sz="1600" dirty="0" err="1"/>
              <a:t>just</a:t>
            </a:r>
            <a:r>
              <a:rPr lang="fr-CH" sz="1600" dirty="0"/>
              <a:t> to </a:t>
            </a:r>
            <a:r>
              <a:rPr lang="fr-CH" sz="1600" dirty="0" err="1"/>
              <a:t>limit</a:t>
            </a:r>
            <a:r>
              <a:rPr lang="fr-CH" sz="1600" dirty="0"/>
              <a:t> </a:t>
            </a:r>
            <a:r>
              <a:rPr lang="fr-CH" sz="1600" dirty="0" err="1"/>
              <a:t>errors</a:t>
            </a:r>
            <a:r>
              <a:rPr lang="fr-CH" sz="1600" dirty="0"/>
              <a:t>)</a:t>
            </a:r>
          </a:p>
          <a:p>
            <a:pPr lvl="1">
              <a:buFontTx/>
              <a:buChar char="-"/>
            </a:pPr>
            <a:r>
              <a:rPr lang="fr-CH" sz="1600" dirty="0"/>
              <a:t>Once a new </a:t>
            </a:r>
            <a:r>
              <a:rPr lang="fr-CH" sz="1600" dirty="0" err="1"/>
              <a:t>reviewer</a:t>
            </a:r>
            <a:r>
              <a:rPr lang="fr-CH" sz="1600" dirty="0"/>
              <a:t>/</a:t>
            </a:r>
            <a:r>
              <a:rPr lang="fr-CH" sz="1600" dirty="0" err="1"/>
              <a:t>Approver</a:t>
            </a:r>
            <a:r>
              <a:rPr lang="fr-CH" sz="1600" dirty="0"/>
              <a:t> </a:t>
            </a:r>
            <a:r>
              <a:rPr lang="fr-CH" sz="1600" dirty="0" err="1"/>
              <a:t>is</a:t>
            </a:r>
            <a:r>
              <a:rPr lang="fr-CH" sz="1600" dirty="0"/>
              <a:t> </a:t>
            </a:r>
            <a:r>
              <a:rPr lang="fr-CH" sz="1600" dirty="0" err="1"/>
              <a:t>assigned</a:t>
            </a:r>
            <a:r>
              <a:rPr lang="fr-CH" sz="1600" dirty="0"/>
              <a:t>, </a:t>
            </a:r>
            <a:r>
              <a:rPr lang="fr-CH" sz="1600" dirty="0" err="1"/>
              <a:t>there</a:t>
            </a:r>
            <a:r>
              <a:rPr lang="fr-CH" sz="1600" dirty="0"/>
              <a:t> </a:t>
            </a:r>
            <a:r>
              <a:rPr lang="fr-CH" sz="1600" dirty="0" err="1"/>
              <a:t>is</a:t>
            </a:r>
            <a:r>
              <a:rPr lang="fr-CH" sz="1600" dirty="0"/>
              <a:t> a routine </a:t>
            </a:r>
            <a:r>
              <a:rPr lang="fr-CH" sz="1600" dirty="0" err="1"/>
              <a:t>which</a:t>
            </a:r>
            <a:r>
              <a:rPr lang="fr-CH" sz="1600" dirty="0"/>
              <a:t> </a:t>
            </a:r>
            <a:r>
              <a:rPr lang="fr-CH" sz="1600" dirty="0" err="1"/>
              <a:t>gives</a:t>
            </a:r>
            <a:r>
              <a:rPr lang="fr-CH" sz="1600" dirty="0"/>
              <a:t> </a:t>
            </a:r>
            <a:r>
              <a:rPr lang="fr-CH" sz="1600" dirty="0" err="1"/>
              <a:t>him</a:t>
            </a:r>
            <a:r>
              <a:rPr lang="fr-CH" sz="1600" dirty="0"/>
              <a:t> </a:t>
            </a:r>
            <a:r>
              <a:rPr lang="fr-CH" sz="1600" dirty="0" err="1"/>
              <a:t>automatically</a:t>
            </a:r>
            <a:r>
              <a:rPr lang="fr-CH" sz="1600" dirty="0"/>
              <a:t> access to </a:t>
            </a:r>
            <a:r>
              <a:rPr lang="fr-CH" sz="1600" dirty="0" err="1"/>
              <a:t>Sharepoint</a:t>
            </a:r>
            <a:r>
              <a:rPr lang="fr-CH" sz="1600" dirty="0"/>
              <a:t> on </a:t>
            </a:r>
            <a:r>
              <a:rPr lang="fr-CH" sz="1600" dirty="0" err="1"/>
              <a:t>any</a:t>
            </a:r>
            <a:r>
              <a:rPr lang="fr-CH" sz="1600" dirty="0"/>
              <a:t> </a:t>
            </a:r>
            <a:r>
              <a:rPr lang="fr-CH" sz="1600" dirty="0" err="1"/>
              <a:t>request</a:t>
            </a:r>
            <a:r>
              <a:rPr lang="fr-CH" sz="1600" dirty="0"/>
              <a:t> </a:t>
            </a:r>
            <a:r>
              <a:rPr lang="fr-CH" sz="1600" dirty="0" err="1"/>
              <a:t>where</a:t>
            </a:r>
            <a:r>
              <a:rPr lang="fr-CH" sz="1600" dirty="0"/>
              <a:t> </a:t>
            </a:r>
            <a:r>
              <a:rPr lang="fr-CH" sz="1600" dirty="0" err="1"/>
              <a:t>he</a:t>
            </a:r>
            <a:r>
              <a:rPr lang="fr-CH" sz="1600" dirty="0"/>
              <a:t> has been </a:t>
            </a:r>
            <a:r>
              <a:rPr lang="fr-CH" sz="1600" dirty="0" err="1"/>
              <a:t>assigned</a:t>
            </a:r>
            <a:r>
              <a:rPr lang="fr-CH" sz="16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AF615-C19C-F621-4DF2-C6310ED1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499B32-8BC1-47DA-B4D9-3113DDE8FF5D}" type="slidenum">
              <a:rPr kumimoji="0" lang="en-US" sz="1599" b="0" i="0" u="none" strike="noStrike" kern="1200" cap="none" spc="0" normalizeH="0" baseline="0" noProof="0" smtClean="0">
                <a:ln>
                  <a:noFill/>
                </a:ln>
                <a:solidFill>
                  <a:srgbClr val="004165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srgbClr val="004165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13F092-37BF-E062-235F-51BC8996A6A1}"/>
              </a:ext>
            </a:extLst>
          </p:cNvPr>
          <p:cNvCxnSpPr/>
          <p:nvPr/>
        </p:nvCxnSpPr>
        <p:spPr>
          <a:xfrm>
            <a:off x="4518660" y="3570514"/>
            <a:ext cx="870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30B5286-9383-9030-172E-67ED715846CD}"/>
              </a:ext>
            </a:extLst>
          </p:cNvPr>
          <p:cNvSpPr/>
          <p:nvPr/>
        </p:nvSpPr>
        <p:spPr>
          <a:xfrm>
            <a:off x="5467894" y="3108960"/>
            <a:ext cx="2995749" cy="975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Manually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providing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right to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create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requests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and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see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all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requests</a:t>
            </a: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6B9A1F13-4EF8-4AC0-0E39-193FBCBD0028}"/>
              </a:ext>
            </a:extLst>
          </p:cNvPr>
          <p:cNvSpPr/>
          <p:nvPr/>
        </p:nvSpPr>
        <p:spPr>
          <a:xfrm>
            <a:off x="5547360" y="1379342"/>
            <a:ext cx="2883227" cy="679903"/>
          </a:xfrm>
          <a:prstGeom prst="wedgeRectCallout">
            <a:avLst>
              <a:gd name="adj1" fmla="val -60873"/>
              <a:gd name="adj2" fmla="val 10452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No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link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from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SEM Access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rights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to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Sharepoint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B74BA3-F8C0-5F0D-23F0-F8BA07BB68E4}"/>
              </a:ext>
            </a:extLst>
          </p:cNvPr>
          <p:cNvCxnSpPr/>
          <p:nvPr/>
        </p:nvCxnSpPr>
        <p:spPr>
          <a:xfrm>
            <a:off x="4531723" y="5446271"/>
            <a:ext cx="8708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4B9CC21-1878-BA07-271E-48C2E0878785}"/>
              </a:ext>
            </a:extLst>
          </p:cNvPr>
          <p:cNvSpPr/>
          <p:nvPr/>
        </p:nvSpPr>
        <p:spPr>
          <a:xfrm>
            <a:off x="5480957" y="4984717"/>
            <a:ext cx="2995749" cy="975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Providing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automaticall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right to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see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requests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on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which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user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is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assigned</a:t>
            </a: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6AA460-3C50-5825-2F2E-863A6B022323}"/>
              </a:ext>
            </a:extLst>
          </p:cNvPr>
          <p:cNvCxnSpPr/>
          <p:nvPr/>
        </p:nvCxnSpPr>
        <p:spPr>
          <a:xfrm>
            <a:off x="8652510" y="1280160"/>
            <a:ext cx="0" cy="52201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7F479B5-5A26-7C63-52B1-AA7B644A9039}"/>
              </a:ext>
            </a:extLst>
          </p:cNvPr>
          <p:cNvSpPr txBox="1">
            <a:spLocks/>
          </p:cNvSpPr>
          <p:nvPr/>
        </p:nvSpPr>
        <p:spPr>
          <a:xfrm>
            <a:off x="8825091" y="1456086"/>
            <a:ext cx="2942044" cy="486827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9865" indent="-269865" algn="l" defTabSz="91394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Symbol" panose="05050102010706020507" pitchFamily="18" charset="2"/>
              <a:buChar char=""/>
              <a:defRPr sz="1999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539730" indent="-269865" algn="l" defTabSz="91394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Symbol" panose="05050102010706020507" pitchFamily="18" charset="2"/>
              <a:buChar char=""/>
              <a:defRPr sz="1999" b="0" i="0" u="none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719640" indent="-179910" algn="l" defTabSz="91394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599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899550" indent="-179910" algn="l" defTabSz="91394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599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079460" indent="-179910" algn="l" defTabSz="91394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199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1253498" indent="-179298" algn="l" defTabSz="91394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199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6pPr>
            <a:lvl7pPr marL="1434382" indent="-179298" algn="l" defTabSz="91394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199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7pPr>
            <a:lvl8pPr marL="1608920" indent="-179298" algn="l" defTabSz="91394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199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8pPr>
            <a:lvl9pPr marL="1789805" indent="-179298" algn="l" defTabSz="913943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199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fr-CH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Area for </a:t>
            </a:r>
            <a:r>
              <a:rPr kumimoji="0" lang="fr-CH" sz="16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improvement</a:t>
            </a:r>
            <a:r>
              <a:rPr kumimoji="0" lang="fr-CH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:</a:t>
            </a: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39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76A2D0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0" lang="fr-CH" sz="16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Keep</a:t>
            </a:r>
            <a:r>
              <a:rPr kumimoji="0" lang="fr-CH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</a:t>
            </a:r>
            <a:r>
              <a:rPr kumimoji="0" lang="fr-CH" sz="16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same</a:t>
            </a:r>
            <a:r>
              <a:rPr kumimoji="0" lang="fr-CH" sz="16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</a:t>
            </a:r>
            <a:r>
              <a:rPr kumimoji="0" lang="fr-CH" sz="16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functionality</a:t>
            </a:r>
            <a:endParaRPr kumimoji="0" lang="fr-CH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5E2DBE-57DE-B957-FD95-3BB57ED08AAC}"/>
              </a:ext>
            </a:extLst>
          </p:cNvPr>
          <p:cNvSpPr/>
          <p:nvPr/>
        </p:nvSpPr>
        <p:spPr>
          <a:xfrm>
            <a:off x="8993309" y="2380236"/>
            <a:ext cx="2995749" cy="119027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Interface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from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SEM to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Mendix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to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automatically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create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/update Local, Maison, Group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requester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roles</a:t>
            </a: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5CA2CDC7-FEDF-966C-6B94-B66FE76A5C21}"/>
              </a:ext>
            </a:extLst>
          </p:cNvPr>
          <p:cNvSpPr/>
          <p:nvPr/>
        </p:nvSpPr>
        <p:spPr>
          <a:xfrm>
            <a:off x="8566233" y="2380236"/>
            <a:ext cx="280307" cy="1190278"/>
          </a:xfrm>
          <a:prstGeom prst="curved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2292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6DAA-29C7-B963-6347-881735F65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PROPOSED OPTION FOR UAM </a:t>
            </a:r>
            <a:r>
              <a:rPr lang="fr-CH" dirty="0" err="1"/>
              <a:t>aUTOMATION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D7BD0-57D4-A6A8-9CC4-F6F1F4E3B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352" y="1416278"/>
            <a:ext cx="10799233" cy="1472066"/>
          </a:xfrm>
        </p:spPr>
        <p:txBody>
          <a:bodyPr/>
          <a:lstStyle/>
          <a:p>
            <a:pPr marL="0" indent="0">
              <a:buNone/>
            </a:pPr>
            <a:r>
              <a:rPr lang="fr-CH" dirty="0"/>
              <a:t>Objective : </a:t>
            </a:r>
          </a:p>
          <a:p>
            <a:pPr>
              <a:buFontTx/>
              <a:buChar char="-"/>
            </a:pPr>
            <a:r>
              <a:rPr lang="fr-CH" dirty="0"/>
              <a:t>Have </a:t>
            </a:r>
            <a:r>
              <a:rPr lang="fr-CH" b="1" dirty="0"/>
              <a:t>a </a:t>
            </a:r>
            <a:r>
              <a:rPr lang="fr-CH" b="1" dirty="0" err="1"/>
              <a:t>secured</a:t>
            </a:r>
            <a:r>
              <a:rPr lang="fr-CH" b="1" dirty="0"/>
              <a:t> </a:t>
            </a:r>
            <a:r>
              <a:rPr lang="fr-CH" b="1" dirty="0" err="1"/>
              <a:t>tool</a:t>
            </a:r>
            <a:r>
              <a:rPr lang="fr-CH" b="1" dirty="0"/>
              <a:t> </a:t>
            </a:r>
            <a:r>
              <a:rPr lang="fr-CH" dirty="0"/>
              <a:t>for </a:t>
            </a:r>
            <a:r>
              <a:rPr lang="fr-CH" dirty="0" err="1"/>
              <a:t>this</a:t>
            </a:r>
            <a:r>
              <a:rPr lang="fr-CH" dirty="0"/>
              <a:t> </a:t>
            </a:r>
            <a:r>
              <a:rPr lang="fr-CH" dirty="0" err="1"/>
              <a:t>confidential</a:t>
            </a:r>
            <a:r>
              <a:rPr lang="fr-CH" dirty="0"/>
              <a:t> process</a:t>
            </a:r>
          </a:p>
          <a:p>
            <a:pPr>
              <a:buFontTx/>
              <a:buChar char="-"/>
            </a:pPr>
            <a:r>
              <a:rPr lang="fr-CH" b="1" dirty="0" err="1"/>
              <a:t>Leverage</a:t>
            </a:r>
            <a:r>
              <a:rPr lang="fr-CH" b="1" dirty="0"/>
              <a:t> SEM access </a:t>
            </a:r>
            <a:r>
              <a:rPr lang="fr-CH" dirty="0"/>
              <a:t>(</a:t>
            </a:r>
            <a:r>
              <a:rPr lang="fr-CH" dirty="0" err="1"/>
              <a:t>with</a:t>
            </a:r>
            <a:r>
              <a:rPr lang="fr-CH" dirty="0"/>
              <a:t> an </a:t>
            </a:r>
            <a:r>
              <a:rPr lang="fr-CH" dirty="0" err="1"/>
              <a:t>existing</a:t>
            </a:r>
            <a:r>
              <a:rPr lang="fr-CH" dirty="0"/>
              <a:t> and </a:t>
            </a:r>
            <a:r>
              <a:rPr lang="fr-CH" dirty="0" err="1"/>
              <a:t>audited</a:t>
            </a:r>
            <a:r>
              <a:rPr lang="fr-CH" dirty="0"/>
              <a:t> access validation process) </a:t>
            </a:r>
            <a:r>
              <a:rPr lang="fr-CH" b="1" dirty="0"/>
              <a:t>to automate the UAM in </a:t>
            </a:r>
            <a:r>
              <a:rPr lang="fr-CH" b="1" dirty="0" err="1"/>
              <a:t>Mendix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55932-0C2E-75AB-E429-3D4C2187B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499B32-8BC1-47DA-B4D9-3113DDE8FF5D}" type="slidenum">
              <a:rPr kumimoji="0" lang="en-US" sz="1599" b="0" i="0" u="none" strike="noStrike" kern="1200" cap="none" spc="0" normalizeH="0" baseline="0" noProof="0" smtClean="0">
                <a:ln>
                  <a:noFill/>
                </a:ln>
                <a:solidFill>
                  <a:srgbClr val="004165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srgbClr val="004165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37EB0-663D-612E-9737-EF99F5A34F7A}"/>
              </a:ext>
            </a:extLst>
          </p:cNvPr>
          <p:cNvSpPr/>
          <p:nvPr/>
        </p:nvSpPr>
        <p:spPr>
          <a:xfrm>
            <a:off x="203200" y="2925354"/>
            <a:ext cx="3078480" cy="5551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SEM</a:t>
            </a: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2CD61A-F5BF-8A04-12DA-0FEAC11A54BD}"/>
              </a:ext>
            </a:extLst>
          </p:cNvPr>
          <p:cNvSpPr/>
          <p:nvPr/>
        </p:nvSpPr>
        <p:spPr>
          <a:xfrm>
            <a:off x="4712788" y="2951480"/>
            <a:ext cx="2886891" cy="5551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My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Access</a:t>
            </a: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22BF99-C90F-05C4-404E-00E10DD474A5}"/>
              </a:ext>
            </a:extLst>
          </p:cNvPr>
          <p:cNvSpPr/>
          <p:nvPr/>
        </p:nvSpPr>
        <p:spPr>
          <a:xfrm>
            <a:off x="8971278" y="2951480"/>
            <a:ext cx="2886891" cy="5551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Mendix</a:t>
            </a: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A4683A-DEE5-5F6C-877B-E28B57E34E25}"/>
              </a:ext>
            </a:extLst>
          </p:cNvPr>
          <p:cNvSpPr txBox="1"/>
          <p:nvPr/>
        </p:nvSpPr>
        <p:spPr>
          <a:xfrm>
            <a:off x="132080" y="3698240"/>
            <a:ext cx="330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800 </a:t>
            </a:r>
            <a:r>
              <a:rPr kumimoji="0" lang="fr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users</a:t>
            </a: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SEggenberger</a:t>
            </a: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: INPUT_CAR_ENT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Entity</a:t>
            </a: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51 – Brand 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Entity</a:t>
            </a: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334 – Brand ALL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9E64EC-68A3-E48F-3075-262790AF4FF0}"/>
              </a:ext>
            </a:extLst>
          </p:cNvPr>
          <p:cNvCxnSpPr/>
          <p:nvPr/>
        </p:nvCxnSpPr>
        <p:spPr>
          <a:xfrm>
            <a:off x="3637280" y="4135120"/>
            <a:ext cx="822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EF0160D-5079-E6CC-4367-CF39EB370802}"/>
              </a:ext>
            </a:extLst>
          </p:cNvPr>
          <p:cNvSpPr txBox="1"/>
          <p:nvPr/>
        </p:nvSpPr>
        <p:spPr>
          <a:xfrm>
            <a:off x="7667894" y="5195297"/>
            <a:ext cx="1278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Automatic</a:t>
            </a:r>
            <a:r>
              <a:rPr kumimoji="0" lang="fr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creation</a:t>
            </a:r>
            <a:r>
              <a:rPr kumimoji="0" lang="fr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a </a:t>
            </a:r>
            <a:r>
              <a:rPr kumimoji="0" lang="fr-CH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review</a:t>
            </a:r>
            <a:r>
              <a:rPr kumimoji="0" lang="fr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role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11B3CB-D441-4BDE-CEE4-A9C83FB08EDE}"/>
              </a:ext>
            </a:extLst>
          </p:cNvPr>
          <p:cNvSpPr txBox="1"/>
          <p:nvPr/>
        </p:nvSpPr>
        <p:spPr>
          <a:xfrm>
            <a:off x="4551679" y="3908102"/>
            <a:ext cx="330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SEggenberger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: INPUT_CAR_ENT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DEE6916-26FB-29FD-ED25-FDEEF14BE69C}"/>
              </a:ext>
            </a:extLst>
          </p:cNvPr>
          <p:cNvCxnSpPr/>
          <p:nvPr/>
        </p:nvCxnSpPr>
        <p:spPr>
          <a:xfrm>
            <a:off x="7895770" y="4191093"/>
            <a:ext cx="8229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5AE494D-5220-B3F8-2649-D1F28ECB0891}"/>
              </a:ext>
            </a:extLst>
          </p:cNvPr>
          <p:cNvSpPr txBox="1"/>
          <p:nvPr/>
        </p:nvSpPr>
        <p:spPr>
          <a:xfrm>
            <a:off x="7692569" y="3754213"/>
            <a:ext cx="12787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Overnight</a:t>
            </a:r>
            <a:r>
              <a:rPr kumimoji="0" lang="fr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creation</a:t>
            </a:r>
            <a:r>
              <a:rPr kumimoji="0" lang="fr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of </a:t>
            </a:r>
            <a:r>
              <a:rPr kumimoji="0" lang="fr-CH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role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9CFF33-126C-59CC-7902-1BFA36E1DA03}"/>
              </a:ext>
            </a:extLst>
          </p:cNvPr>
          <p:cNvSpPr txBox="1"/>
          <p:nvPr/>
        </p:nvSpPr>
        <p:spPr>
          <a:xfrm>
            <a:off x="8810169" y="3908102"/>
            <a:ext cx="330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SEggenberger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: INPUT_CAR_ENT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9BBE88-6369-735D-1FF1-F6EB889BD159}"/>
              </a:ext>
            </a:extLst>
          </p:cNvPr>
          <p:cNvCxnSpPr>
            <a:cxnSpLocks/>
          </p:cNvCxnSpPr>
          <p:nvPr/>
        </p:nvCxnSpPr>
        <p:spPr>
          <a:xfrm>
            <a:off x="3637280" y="4673729"/>
            <a:ext cx="51728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CBB06B8-2E6B-BABD-AF41-6FBE4E53209C}"/>
              </a:ext>
            </a:extLst>
          </p:cNvPr>
          <p:cNvSpPr txBox="1"/>
          <p:nvPr/>
        </p:nvSpPr>
        <p:spPr>
          <a:xfrm>
            <a:off x="3602444" y="4431323"/>
            <a:ext cx="52425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Overnight</a:t>
            </a:r>
            <a:r>
              <a:rPr kumimoji="0" lang="fr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</a:t>
            </a:r>
            <a:r>
              <a:rPr kumimoji="0" lang="fr-CH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creation</a:t>
            </a:r>
            <a:r>
              <a:rPr kumimoji="0" lang="fr-CH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of restrictions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76D177-B3F4-B6EE-498E-39A5CCE211B4}"/>
              </a:ext>
            </a:extLst>
          </p:cNvPr>
          <p:cNvSpPr txBox="1"/>
          <p:nvPr/>
        </p:nvSpPr>
        <p:spPr>
          <a:xfrm>
            <a:off x="8825090" y="4338989"/>
            <a:ext cx="2600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Entity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51 – Brand 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Entity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334 – Brand ALL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48F4B5-5FD5-8D2E-B146-03BFFD96D2BE}"/>
              </a:ext>
            </a:extLst>
          </p:cNvPr>
          <p:cNvSpPr/>
          <p:nvPr/>
        </p:nvSpPr>
        <p:spPr>
          <a:xfrm>
            <a:off x="89988" y="4033520"/>
            <a:ext cx="3212011" cy="741938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A8695D-48C3-68F7-A6D8-070E1F396A16}"/>
              </a:ext>
            </a:extLst>
          </p:cNvPr>
          <p:cNvSpPr/>
          <p:nvPr/>
        </p:nvSpPr>
        <p:spPr>
          <a:xfrm>
            <a:off x="8825090" y="3983409"/>
            <a:ext cx="3212011" cy="1001907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CB3CC2-9959-CB0F-D860-99B28FC82500}"/>
              </a:ext>
            </a:extLst>
          </p:cNvPr>
          <p:cNvSpPr/>
          <p:nvPr/>
        </p:nvSpPr>
        <p:spPr>
          <a:xfrm>
            <a:off x="8855162" y="5199112"/>
            <a:ext cx="3212011" cy="1001907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2B09DE-A402-4C76-D8F4-07B4E99EFB84}"/>
              </a:ext>
            </a:extLst>
          </p:cNvPr>
          <p:cNvSpPr txBox="1"/>
          <p:nvPr/>
        </p:nvSpPr>
        <p:spPr>
          <a:xfrm>
            <a:off x="8810167" y="5199112"/>
            <a:ext cx="330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New user, not in SEM , only </a:t>
            </a:r>
            <a:r>
              <a:rPr kumimoji="0" lang="fr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assigned</a:t>
            </a: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to a </a:t>
            </a:r>
            <a:r>
              <a:rPr kumimoji="0" lang="fr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review</a:t>
            </a: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/</a:t>
            </a:r>
            <a:r>
              <a:rPr kumimoji="0" lang="fr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approval</a:t>
            </a: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in 1 </a:t>
            </a:r>
            <a:r>
              <a:rPr kumimoji="0" lang="fr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specific</a:t>
            </a:r>
            <a:r>
              <a:rPr kumimoji="0" lang="fr-CH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CAR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JSmith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hemont Light"/>
              <a:ea typeface="+mn-ea"/>
              <a:cs typeface="+mn-cs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4954898-6C8A-362D-857D-DD04FCE95B7C}"/>
              </a:ext>
            </a:extLst>
          </p:cNvPr>
          <p:cNvCxnSpPr>
            <a:cxnSpLocks/>
          </p:cNvCxnSpPr>
          <p:nvPr/>
        </p:nvCxnSpPr>
        <p:spPr>
          <a:xfrm flipH="1">
            <a:off x="7814489" y="5614915"/>
            <a:ext cx="9855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43B2E1C-3A13-22F5-3627-6E4CF274D7EE}"/>
              </a:ext>
            </a:extLst>
          </p:cNvPr>
          <p:cNvSpPr txBox="1"/>
          <p:nvPr/>
        </p:nvSpPr>
        <p:spPr>
          <a:xfrm>
            <a:off x="4712788" y="5429944"/>
            <a:ext cx="330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H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Jsmith</a:t>
            </a:r>
            <a:r>
              <a:rPr kumimoji="0" lang="fr-CH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ichemont Light"/>
                <a:ea typeface="+mn-ea"/>
                <a:cs typeface="+mn-cs"/>
              </a:rPr>
              <a:t> : REVIEW_CAR</a:t>
            </a:r>
          </a:p>
        </p:txBody>
      </p:sp>
    </p:spTree>
    <p:extLst>
      <p:ext uri="{BB962C8B-B14F-4D97-AF65-F5344CB8AC3E}">
        <p14:creationId xmlns:p14="http://schemas.microsoft.com/office/powerpoint/2010/main" val="297474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46FD-AEC3-B6E2-C7AD-3B344828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EXAMPLE OF ROLES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410313E-DCB9-96E6-F098-FCAC8427B3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4" y="1274304"/>
          <a:ext cx="8727436" cy="549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654">
                  <a:extLst>
                    <a:ext uri="{9D8B030D-6E8A-4147-A177-3AD203B41FA5}">
                      <a16:colId xmlns:a16="http://schemas.microsoft.com/office/drawing/2014/main" val="2675461290"/>
                    </a:ext>
                  </a:extLst>
                </a:gridCol>
                <a:gridCol w="6321782">
                  <a:extLst>
                    <a:ext uri="{9D8B030D-6E8A-4147-A177-3AD203B41FA5}">
                      <a16:colId xmlns:a16="http://schemas.microsoft.com/office/drawing/2014/main" val="2636054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SEM User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 err="1"/>
                        <a:t>Mendix</a:t>
                      </a:r>
                      <a:r>
                        <a:rPr lang="fr-CH" dirty="0"/>
                        <a:t> access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63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INPUT_CAR_ENT</a:t>
                      </a:r>
                    </a:p>
                    <a:p>
                      <a:r>
                        <a:rPr lang="fr-CH" dirty="0" err="1"/>
                        <a:t>Entity</a:t>
                      </a:r>
                      <a:r>
                        <a:rPr lang="fr-CH" dirty="0"/>
                        <a:t> 51 - Brand ALL</a:t>
                      </a:r>
                    </a:p>
                    <a:p>
                      <a:r>
                        <a:rPr lang="fr-CH" dirty="0" err="1"/>
                        <a:t>Entity</a:t>
                      </a:r>
                      <a:r>
                        <a:rPr lang="fr-CH" dirty="0"/>
                        <a:t> 334 - Brand 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Can </a:t>
                      </a:r>
                      <a:r>
                        <a:rPr lang="fr-CH" dirty="0" err="1"/>
                        <a:t>create</a:t>
                      </a:r>
                      <a:r>
                        <a:rPr lang="fr-CH" dirty="0"/>
                        <a:t> a local </a:t>
                      </a:r>
                      <a:r>
                        <a:rPr lang="fr-CH" dirty="0" err="1"/>
                        <a:t>level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request</a:t>
                      </a:r>
                      <a:r>
                        <a:rPr lang="fr-CH" dirty="0"/>
                        <a:t> for </a:t>
                      </a:r>
                      <a:r>
                        <a:rPr lang="fr-CH" dirty="0" err="1"/>
                        <a:t>Entity</a:t>
                      </a:r>
                      <a:r>
                        <a:rPr lang="fr-CH" dirty="0"/>
                        <a:t> 51 and 334.</a:t>
                      </a:r>
                    </a:p>
                    <a:p>
                      <a:r>
                        <a:rPr lang="fr-CH" dirty="0"/>
                        <a:t>Has by default a </a:t>
                      </a:r>
                      <a:r>
                        <a:rPr lang="fr-CH" dirty="0" err="1"/>
                        <a:t>reviewer</a:t>
                      </a:r>
                      <a:r>
                        <a:rPr lang="fr-CH" dirty="0"/>
                        <a:t> /</a:t>
                      </a:r>
                      <a:r>
                        <a:rPr lang="fr-CH" dirty="0" err="1"/>
                        <a:t>approver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role</a:t>
                      </a:r>
                      <a:endParaRPr lang="fr-CH" dirty="0"/>
                    </a:p>
                    <a:p>
                      <a:r>
                        <a:rPr lang="fr-CH" dirty="0"/>
                        <a:t>Can </a:t>
                      </a:r>
                      <a:r>
                        <a:rPr lang="fr-CH" dirty="0" err="1"/>
                        <a:t>see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any</a:t>
                      </a:r>
                      <a:r>
                        <a:rPr lang="fr-CH" dirty="0"/>
                        <a:t> local </a:t>
                      </a:r>
                      <a:r>
                        <a:rPr lang="fr-CH" dirty="0" err="1"/>
                        <a:t>request</a:t>
                      </a:r>
                      <a:r>
                        <a:rPr lang="fr-CH" dirty="0"/>
                        <a:t> for </a:t>
                      </a:r>
                      <a:r>
                        <a:rPr lang="fr-CH" dirty="0" err="1"/>
                        <a:t>Entity</a:t>
                      </a:r>
                      <a:r>
                        <a:rPr lang="fr-CH" dirty="0"/>
                        <a:t> 51 and 334 </a:t>
                      </a:r>
                      <a:r>
                        <a:rPr lang="fr-CH" dirty="0" err="1"/>
                        <a:t>performed</a:t>
                      </a:r>
                      <a:r>
                        <a:rPr lang="fr-CH" dirty="0"/>
                        <a:t> by </a:t>
                      </a:r>
                      <a:r>
                        <a:rPr lang="fr-CH" dirty="0" err="1"/>
                        <a:t>his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colleagues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503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INPUT_CAR_BRD</a:t>
                      </a:r>
                    </a:p>
                    <a:p>
                      <a:r>
                        <a:rPr lang="fr-CH" dirty="0" err="1"/>
                        <a:t>Entity</a:t>
                      </a:r>
                      <a:r>
                        <a:rPr lang="fr-CH" dirty="0"/>
                        <a:t> ALL – Brand PIA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Can </a:t>
                      </a:r>
                      <a:r>
                        <a:rPr lang="fr-CH" dirty="0" err="1"/>
                        <a:t>create</a:t>
                      </a:r>
                      <a:r>
                        <a:rPr lang="fr-CH" dirty="0"/>
                        <a:t> maison </a:t>
                      </a:r>
                      <a:r>
                        <a:rPr lang="fr-CH" dirty="0" err="1"/>
                        <a:t>level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request</a:t>
                      </a:r>
                      <a:r>
                        <a:rPr lang="fr-CH" dirty="0"/>
                        <a:t> for Piaget.</a:t>
                      </a:r>
                    </a:p>
                    <a:p>
                      <a:r>
                        <a:rPr lang="fr-CH" dirty="0"/>
                        <a:t>Has by default a </a:t>
                      </a:r>
                      <a:r>
                        <a:rPr lang="fr-CH" dirty="0" err="1"/>
                        <a:t>reviewer</a:t>
                      </a:r>
                      <a:r>
                        <a:rPr lang="fr-CH" dirty="0"/>
                        <a:t> /</a:t>
                      </a:r>
                      <a:r>
                        <a:rPr lang="fr-CH" dirty="0" err="1"/>
                        <a:t>approver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role</a:t>
                      </a:r>
                      <a:endParaRPr lang="fr-CH" dirty="0"/>
                    </a:p>
                    <a:p>
                      <a:r>
                        <a:rPr lang="fr-CH" dirty="0"/>
                        <a:t>Can </a:t>
                      </a:r>
                      <a:r>
                        <a:rPr lang="fr-CH" dirty="0" err="1"/>
                        <a:t>see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any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Maisonl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request</a:t>
                      </a:r>
                      <a:r>
                        <a:rPr lang="fr-CH" dirty="0"/>
                        <a:t> for PIAGET </a:t>
                      </a:r>
                      <a:r>
                        <a:rPr lang="fr-CH" dirty="0" err="1"/>
                        <a:t>performed</a:t>
                      </a:r>
                      <a:r>
                        <a:rPr lang="fr-CH" dirty="0"/>
                        <a:t> by </a:t>
                      </a:r>
                      <a:r>
                        <a:rPr lang="fr-CH" dirty="0" err="1"/>
                        <a:t>his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colleagues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335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INPUT_CAR_CDG</a:t>
                      </a:r>
                    </a:p>
                    <a:p>
                      <a:r>
                        <a:rPr lang="fr-CH" dirty="0" err="1"/>
                        <a:t>Entity</a:t>
                      </a:r>
                      <a:r>
                        <a:rPr lang="fr-CH" dirty="0"/>
                        <a:t> ALL – Brand 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Can </a:t>
                      </a:r>
                      <a:r>
                        <a:rPr lang="fr-CH" dirty="0" err="1"/>
                        <a:t>create</a:t>
                      </a:r>
                      <a:r>
                        <a:rPr lang="fr-CH" dirty="0"/>
                        <a:t> a group </a:t>
                      </a:r>
                      <a:r>
                        <a:rPr lang="fr-CH" dirty="0" err="1"/>
                        <a:t>request</a:t>
                      </a:r>
                      <a:r>
                        <a:rPr lang="fr-CH" dirty="0"/>
                        <a:t> for </a:t>
                      </a:r>
                      <a:r>
                        <a:rPr lang="fr-CH" dirty="0" err="1"/>
                        <a:t>any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Entity</a:t>
                      </a:r>
                      <a:r>
                        <a:rPr lang="fr-CH" dirty="0"/>
                        <a:t>/Brand</a:t>
                      </a:r>
                    </a:p>
                    <a:p>
                      <a:pPr marL="0" marR="0" lvl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/>
                        <a:t>Has by default a </a:t>
                      </a:r>
                      <a:r>
                        <a:rPr lang="fr-CH" dirty="0" err="1"/>
                        <a:t>reviewer</a:t>
                      </a:r>
                      <a:r>
                        <a:rPr lang="fr-CH" dirty="0"/>
                        <a:t> /</a:t>
                      </a:r>
                      <a:r>
                        <a:rPr lang="fr-CH" dirty="0" err="1"/>
                        <a:t>approver</a:t>
                      </a:r>
                      <a:r>
                        <a:rPr lang="fr-CH" dirty="0"/>
                        <a:t> rôle</a:t>
                      </a:r>
                    </a:p>
                    <a:p>
                      <a:pPr marL="0" marR="0" lvl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H" dirty="0"/>
                        <a:t>Can </a:t>
                      </a:r>
                      <a:r>
                        <a:rPr lang="fr-CH" dirty="0" err="1"/>
                        <a:t>see</a:t>
                      </a:r>
                      <a:r>
                        <a:rPr lang="fr-CH" dirty="0"/>
                        <a:t> all the </a:t>
                      </a:r>
                      <a:r>
                        <a:rPr lang="fr-CH" dirty="0" err="1"/>
                        <a:t>requests</a:t>
                      </a:r>
                      <a:r>
                        <a:rPr lang="fr-CH" dirty="0"/>
                        <a:t> (</a:t>
                      </a:r>
                      <a:r>
                        <a:rPr lang="fr-CH" dirty="0" err="1"/>
                        <a:t>with</a:t>
                      </a:r>
                      <a:r>
                        <a:rPr lang="fr-CH" dirty="0"/>
                        <a:t> exception of M&amp;A Car Types)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543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H" dirty="0"/>
                        <a:t>Not SEM User but </a:t>
                      </a:r>
                      <a:r>
                        <a:rPr lang="fr-CH" dirty="0" err="1"/>
                        <a:t>assigned</a:t>
                      </a:r>
                      <a:r>
                        <a:rPr lang="fr-CH" dirty="0"/>
                        <a:t> in a </a:t>
                      </a:r>
                      <a:r>
                        <a:rPr lang="fr-CH" dirty="0" err="1"/>
                        <a:t>Mendix</a:t>
                      </a:r>
                      <a:r>
                        <a:rPr lang="fr-CH" dirty="0"/>
                        <a:t> workflow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H" dirty="0"/>
                        <a:t>Can only </a:t>
                      </a:r>
                      <a:r>
                        <a:rPr lang="fr-CH" dirty="0" err="1"/>
                        <a:t>see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CARs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he</a:t>
                      </a:r>
                      <a:r>
                        <a:rPr lang="fr-CH" dirty="0"/>
                        <a:t> has been </a:t>
                      </a:r>
                      <a:r>
                        <a:rPr lang="fr-CH" dirty="0" err="1"/>
                        <a:t>assigned</a:t>
                      </a:r>
                      <a:r>
                        <a:rPr lang="fr-CH" dirty="0"/>
                        <a:t> to and </a:t>
                      </a:r>
                      <a:r>
                        <a:rPr lang="fr-CH" dirty="0" err="1"/>
                        <a:t>perform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review</a:t>
                      </a:r>
                      <a:r>
                        <a:rPr lang="fr-CH" dirty="0"/>
                        <a:t>/</a:t>
                      </a:r>
                      <a:r>
                        <a:rPr lang="fr-CH" dirty="0" err="1"/>
                        <a:t>Approve</a:t>
                      </a:r>
                      <a:r>
                        <a:rPr lang="fr-CH" dirty="0"/>
                        <a:t> </a:t>
                      </a:r>
                      <a:r>
                        <a:rPr lang="fr-CH" dirty="0" err="1"/>
                        <a:t>tasks</a:t>
                      </a:r>
                      <a:r>
                        <a:rPr lang="fr-CH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84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9491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7E58D-8E50-0220-68B3-50EE7DD8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499B32-8BC1-47DA-B4D9-3113DDE8FF5D}" type="slidenum">
              <a:rPr kumimoji="0" lang="en-US" sz="1599" b="0" i="0" u="none" strike="noStrike" kern="1200" cap="none" spc="0" normalizeH="0" baseline="0" noProof="0" smtClean="0">
                <a:ln>
                  <a:noFill/>
                </a:ln>
                <a:solidFill>
                  <a:srgbClr val="004165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srgbClr val="004165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1788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A46E-DE4C-63F6-5341-D9127103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Example of table </a:t>
            </a:r>
            <a:r>
              <a:rPr lang="fr-CH" dirty="0" err="1"/>
              <a:t>provided</a:t>
            </a:r>
            <a:r>
              <a:rPr lang="fr-CH" dirty="0"/>
              <a:t> by </a:t>
            </a:r>
            <a:r>
              <a:rPr lang="fr-CH" dirty="0" err="1"/>
              <a:t>sem</a:t>
            </a:r>
            <a:r>
              <a:rPr lang="fr-CH" dirty="0"/>
              <a:t> </a:t>
            </a:r>
            <a:r>
              <a:rPr lang="fr-CH" dirty="0" err="1"/>
              <a:t>every</a:t>
            </a:r>
            <a:r>
              <a:rPr lang="fr-CH" dirty="0"/>
              <a:t> night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D5BAB-AE89-5CAC-A9AA-40DA49DB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499B32-8BC1-47DA-B4D9-3113DDE8FF5D}" type="slidenum">
              <a:rPr kumimoji="0" lang="en-US" sz="1599" b="0" i="0" u="none" strike="noStrike" kern="1200" cap="none" spc="0" normalizeH="0" baseline="0" noProof="0" smtClean="0">
                <a:ln>
                  <a:noFill/>
                </a:ln>
                <a:solidFill>
                  <a:srgbClr val="004165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599" b="0" i="0" u="none" strike="noStrike" kern="1200" cap="none" spc="0" normalizeH="0" baseline="0" noProof="0">
              <a:ln>
                <a:noFill/>
              </a:ln>
              <a:solidFill>
                <a:srgbClr val="004165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AB1FE0-EFD1-A399-79F4-DF5BC6313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983" y="1940752"/>
            <a:ext cx="9754101" cy="45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618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Backgroun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heme/theme1.xml><?xml version="1.0" encoding="utf-8"?>
<a:theme xmlns:a="http://schemas.openxmlformats.org/drawingml/2006/main" name="3_Richemont_PPT_20151214_LogoTest">
  <a:themeElements>
    <a:clrScheme name="Richemont">
      <a:dk1>
        <a:sysClr val="windowText" lastClr="000000"/>
      </a:dk1>
      <a:lt1>
        <a:sysClr val="window" lastClr="FFFFFF"/>
      </a:lt1>
      <a:dk2>
        <a:srgbClr val="595959"/>
      </a:dk2>
      <a:lt2>
        <a:srgbClr val="498D8D"/>
      </a:lt2>
      <a:accent1>
        <a:srgbClr val="004165"/>
      </a:accent1>
      <a:accent2>
        <a:srgbClr val="76A2D0"/>
      </a:accent2>
      <a:accent3>
        <a:srgbClr val="404545"/>
      </a:accent3>
      <a:accent4>
        <a:srgbClr val="6F90A8"/>
      </a:accent4>
      <a:accent5>
        <a:srgbClr val="FDDDBD"/>
      </a:accent5>
      <a:accent6>
        <a:srgbClr val="7A8980"/>
      </a:accent6>
      <a:hlink>
        <a:srgbClr val="0563C1"/>
      </a:hlink>
      <a:folHlink>
        <a:srgbClr val="954F72"/>
      </a:folHlink>
    </a:clrScheme>
    <a:fontScheme name="Richemont">
      <a:majorFont>
        <a:latin typeface="Richemont Light"/>
        <a:ea typeface=""/>
        <a:cs typeface=""/>
      </a:majorFont>
      <a:minorFont>
        <a:latin typeface="Richemon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ichemont_PPT_20151214_LogoTest.potx" id="{C83F91FB-2BF3-43DD-9319-33CACED2C336}" vid="{1EFD34DB-DCD9-4D05-9D9A-C0A9A66248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Richemont">
    <a:dk1>
      <a:srgbClr val="000000"/>
    </a:dk1>
    <a:lt1>
      <a:srgbClr val="FFFFFF"/>
    </a:lt1>
    <a:dk2>
      <a:srgbClr val="978859"/>
    </a:dk2>
    <a:lt2>
      <a:srgbClr val="9DBCB0"/>
    </a:lt2>
    <a:accent1>
      <a:srgbClr val="004165"/>
    </a:accent1>
    <a:accent2>
      <a:srgbClr val="93B1CC"/>
    </a:accent2>
    <a:accent3>
      <a:srgbClr val="404545"/>
    </a:accent3>
    <a:accent4>
      <a:srgbClr val="B9C9D0"/>
    </a:accent4>
    <a:accent5>
      <a:srgbClr val="E2CDB8"/>
    </a:accent5>
    <a:accent6>
      <a:srgbClr val="747F81"/>
    </a:accent6>
    <a:hlink>
      <a:srgbClr val="004165"/>
    </a:hlink>
    <a:folHlink>
      <a:srgbClr val="822433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501</Words>
  <Application>Microsoft Office PowerPoint</Application>
  <PresentationFormat>Widescreen</PresentationFormat>
  <Paragraphs>77</Paragraphs>
  <Slides>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Aptos</vt:lpstr>
      <vt:lpstr>Arial</vt:lpstr>
      <vt:lpstr>Century Gothic</vt:lpstr>
      <vt:lpstr>Richemont Light</vt:lpstr>
      <vt:lpstr>Sabon LT Std</vt:lpstr>
      <vt:lpstr>Sabon MT</vt:lpstr>
      <vt:lpstr>Symbol</vt:lpstr>
      <vt:lpstr>Wingdings</vt:lpstr>
      <vt:lpstr>3_Richemont_PPT_20151214_LogoTest</vt:lpstr>
      <vt:lpstr>think-cell Slide</vt:lpstr>
      <vt:lpstr>USER ACCESS MANAGEMENT IN CAR PROCESS</vt:lpstr>
      <vt:lpstr>PROPOSED OPTION FOR UAM aUTOMATION</vt:lpstr>
      <vt:lpstr>EXAMPLE OF ROLES</vt:lpstr>
      <vt:lpstr>Example of table provided by sem every night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 Alexis (RIC-CH)</dc:creator>
  <cp:lastModifiedBy>ROY Alexis (RIC-CH)</cp:lastModifiedBy>
  <cp:revision>2</cp:revision>
  <dcterms:created xsi:type="dcterms:W3CDTF">2026-01-30T09:39:43Z</dcterms:created>
  <dcterms:modified xsi:type="dcterms:W3CDTF">2026-01-30T10:38:16Z</dcterms:modified>
</cp:coreProperties>
</file>